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Helios Extended" charset="1" panose="02000505040000020004"/>
      <p:regular r:id="rId15"/>
    </p:embeddedFont>
    <p:embeddedFont>
      <p:font typeface="Fira Sans Bold" charset="1" panose="020B0803050000020004"/>
      <p:regular r:id="rId16"/>
    </p:embeddedFont>
    <p:embeddedFont>
      <p:font typeface="Fira Sans Light" charset="1" panose="020B0403050000020004"/>
      <p:regular r:id="rId17"/>
    </p:embeddedFont>
    <p:embeddedFont>
      <p:font typeface="Helios Extended Bold" charset="1" panose="0200080505000002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42391" y="2003365"/>
            <a:ext cx="12403218" cy="6615198"/>
            <a:chOff x="0" y="0"/>
            <a:chExt cx="3774754" cy="20132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74754" cy="2013248"/>
            </a:xfrm>
            <a:custGeom>
              <a:avLst/>
              <a:gdLst/>
              <a:ahLst/>
              <a:cxnLst/>
              <a:rect r="r" b="b" t="t" l="l"/>
              <a:pathLst>
                <a:path h="2013248" w="3774754">
                  <a:moveTo>
                    <a:pt x="0" y="0"/>
                  </a:moveTo>
                  <a:lnTo>
                    <a:pt x="3774754" y="0"/>
                  </a:lnTo>
                  <a:lnTo>
                    <a:pt x="3774754" y="2013248"/>
                  </a:lnTo>
                  <a:lnTo>
                    <a:pt x="0" y="2013248"/>
                  </a:lnTo>
                  <a:close/>
                </a:path>
              </a:pathLst>
            </a:custGeom>
            <a:blipFill>
              <a:blip r:embed="rId2"/>
              <a:stretch>
                <a:fillRect l="0" t="-6717" r="0" b="-671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097862" y="0"/>
            <a:ext cx="190138" cy="10287000"/>
            <a:chOff x="0" y="0"/>
            <a:chExt cx="50077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077" cy="2709333"/>
            </a:xfrm>
            <a:custGeom>
              <a:avLst/>
              <a:gdLst/>
              <a:ahLst/>
              <a:cxnLst/>
              <a:rect r="r" b="b" t="t" l="l"/>
              <a:pathLst>
                <a:path h="2709333" w="50077">
                  <a:moveTo>
                    <a:pt x="0" y="0"/>
                  </a:moveTo>
                  <a:lnTo>
                    <a:pt x="50077" y="0"/>
                  </a:lnTo>
                  <a:lnTo>
                    <a:pt x="5007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5353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0077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700712" y="550231"/>
            <a:ext cx="6886575" cy="2271395"/>
            <a:chOff x="0" y="0"/>
            <a:chExt cx="9182100" cy="3028527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2503382"/>
              <a:ext cx="91821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8575"/>
              <a:ext cx="9182100" cy="182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065"/>
                </a:lnSpc>
              </a:pPr>
              <a:r>
                <a:rPr lang="en-US" sz="9150">
                  <a:solidFill>
                    <a:srgbClr val="353533"/>
                  </a:solidFill>
                  <a:latin typeface="Helios Extended"/>
                  <a:ea typeface="Helios Extended"/>
                  <a:cs typeface="Helios Extended"/>
                  <a:sym typeface="Helios Extended"/>
                </a:rPr>
                <a:t>CoPatrulha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308371" y="8836025"/>
            <a:ext cx="167125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353533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MAIO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353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95325"/>
            <a:ext cx="14077950" cy="3416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F6F5F2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A segurança do Rio é decidida com dados de uma semana atrás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5143500"/>
            <a:ext cx="4000500" cy="1570576"/>
            <a:chOff x="0" y="0"/>
            <a:chExt cx="5334000" cy="209410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146175"/>
              <a:ext cx="5334000" cy="9479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 strike="noStrike" u="none">
                  <a:solidFill>
                    <a:srgbClr val="F6F5F2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7 fontes de dados. Zero integração automática.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57150"/>
              <a:ext cx="53340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F6F5F2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FONTE DE DADOS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19850" y="5143500"/>
            <a:ext cx="4464571" cy="1570576"/>
            <a:chOff x="0" y="0"/>
            <a:chExt cx="5952761" cy="209410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146175"/>
              <a:ext cx="5952761" cy="9479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 strike="noStrike" u="none">
                  <a:solidFill>
                    <a:srgbClr val="F6F5F2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Horas montando relatório/planilha</a:t>
              </a:r>
            </a:p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 strike="noStrike" u="none">
                  <a:solidFill>
                    <a:srgbClr val="F6F5F2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à mão antes de cada reunião.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57150"/>
              <a:ext cx="53467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F6F5F2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PREPARAÇÃO MANUAL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172950" y="5143500"/>
            <a:ext cx="4010025" cy="1570576"/>
            <a:chOff x="0" y="0"/>
            <a:chExt cx="5346700" cy="209410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146175"/>
              <a:ext cx="5346700" cy="9479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 strike="noStrike" u="none">
                  <a:solidFill>
                    <a:srgbClr val="F6F5F2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Quando o plano sai, o crime já pode ter mudado de esquina.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57150"/>
              <a:ext cx="53467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F6F5F2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MUDANÇA RÁPIDA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5400000">
            <a:off x="9068162" y="1029062"/>
            <a:ext cx="189775" cy="18326100"/>
            <a:chOff x="0" y="0"/>
            <a:chExt cx="49982" cy="482662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982" cy="4826627"/>
            </a:xfrm>
            <a:custGeom>
              <a:avLst/>
              <a:gdLst/>
              <a:ahLst/>
              <a:cxnLst/>
              <a:rect r="r" b="b" t="t" l="l"/>
              <a:pathLst>
                <a:path h="4826627" w="49982">
                  <a:moveTo>
                    <a:pt x="0" y="0"/>
                  </a:moveTo>
                  <a:lnTo>
                    <a:pt x="49982" y="0"/>
                  </a:lnTo>
                  <a:lnTo>
                    <a:pt x="49982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F6F5F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49982" cy="4874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353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95325"/>
            <a:ext cx="14077950" cy="1187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F6F5F2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Ver, decidir, perguntar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5143500"/>
            <a:ext cx="4000500" cy="1934860"/>
            <a:chOff x="0" y="0"/>
            <a:chExt cx="5334000" cy="2579813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146175"/>
              <a:ext cx="5334000" cy="14336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 strike="noStrike" u="none">
                  <a:solidFill>
                    <a:srgbClr val="F6F5F2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A mancha criminal de cada área, gerada do cruzamento das 7 fontes em tempo real.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57150"/>
              <a:ext cx="53340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F6F5F2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VER A MANCHA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19850" y="5143500"/>
            <a:ext cx="4010025" cy="3027709"/>
            <a:chOff x="0" y="0"/>
            <a:chExt cx="5346700" cy="403694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146175"/>
              <a:ext cx="5346700" cy="2890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 strike="noStrike" u="none">
                  <a:solidFill>
                    <a:srgbClr val="F6F5F2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O Relatório Analítico de Área pronto em .doc, no formato CompStat, com plano de ação e responsáveis. Gerado antes da reunião e atualizado ao vivo, em tempo real, durante ela.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57150"/>
              <a:ext cx="53467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F6F5F2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DECIDIR COM RELATÓRIO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172950" y="5143500"/>
            <a:ext cx="4010025" cy="1934860"/>
            <a:chOff x="0" y="0"/>
            <a:chExt cx="5346700" cy="257981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146175"/>
              <a:ext cx="5346700" cy="14336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 strike="noStrike" u="none">
                  <a:solidFill>
                    <a:srgbClr val="F6F5F2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Um copiloto que responde sobre os dados e cita a fonte de cada resposta.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57150"/>
              <a:ext cx="53467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F6F5F2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PERGUNTAR AO COPILOTO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5400000">
            <a:off x="9068162" y="1029062"/>
            <a:ext cx="189775" cy="18326100"/>
            <a:chOff x="0" y="0"/>
            <a:chExt cx="49982" cy="482662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982" cy="4826627"/>
            </a:xfrm>
            <a:custGeom>
              <a:avLst/>
              <a:gdLst/>
              <a:ahLst/>
              <a:cxnLst/>
              <a:rect r="r" b="b" t="t" l="l"/>
              <a:pathLst>
                <a:path h="4826627" w="49982">
                  <a:moveTo>
                    <a:pt x="0" y="0"/>
                  </a:moveTo>
                  <a:lnTo>
                    <a:pt x="49982" y="0"/>
                  </a:lnTo>
                  <a:lnTo>
                    <a:pt x="49982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F6F5F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49982" cy="4874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95325"/>
            <a:ext cx="11201400" cy="3416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353533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Não é mais um dashboard, não é uma caixa-preta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5143500"/>
            <a:ext cx="6886575" cy="1579323"/>
            <a:chOff x="0" y="0"/>
            <a:chExt cx="9182100" cy="2105764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157837"/>
              <a:ext cx="9182100" cy="9479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 strike="noStrike" u="none">
                  <a:solidFill>
                    <a:srgbClr val="353533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Um BI mostra números, mas não interpreta a dinâmica criminal nem cruza os fatores urbanos.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57150"/>
              <a:ext cx="91821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353533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BI VERSUS COPATRULHA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296400" y="5143500"/>
            <a:ext cx="6886575" cy="1579323"/>
            <a:chOff x="0" y="0"/>
            <a:chExt cx="9182100" cy="210576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157837"/>
              <a:ext cx="9182100" cy="9479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 strike="noStrike" u="none">
                  <a:solidFill>
                    <a:srgbClr val="353533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O policiamento preditivo decide por você e erra escondido. O CoPatrulha devolve a decisão ao humano.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57150"/>
              <a:ext cx="91821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353533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DECISÃO HUMANA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9068162" y="1029062"/>
            <a:ext cx="189775" cy="18326100"/>
            <a:chOff x="0" y="0"/>
            <a:chExt cx="49982" cy="482662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9982" cy="4826627"/>
            </a:xfrm>
            <a:custGeom>
              <a:avLst/>
              <a:gdLst/>
              <a:ahLst/>
              <a:cxnLst/>
              <a:rect r="r" b="b" t="t" l="l"/>
              <a:pathLst>
                <a:path h="4826627" w="49982">
                  <a:moveTo>
                    <a:pt x="0" y="0"/>
                  </a:moveTo>
                  <a:lnTo>
                    <a:pt x="49982" y="0"/>
                  </a:lnTo>
                  <a:lnTo>
                    <a:pt x="49982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35353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9982" cy="4874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53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2172950" y="0"/>
            <a:ext cx="6115050" cy="10287000"/>
          </a:xfrm>
          <a:prstGeom prst="rect">
            <a:avLst/>
          </a:prstGeom>
          <a:solidFill>
            <a:srgbClr val="F6F5F2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9467850" y="666750"/>
            <a:ext cx="7958914" cy="8953500"/>
            <a:chOff x="0" y="0"/>
            <a:chExt cx="2079925" cy="23398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9925" cy="2339842"/>
            </a:xfrm>
            <a:custGeom>
              <a:avLst/>
              <a:gdLst/>
              <a:ahLst/>
              <a:cxnLst/>
              <a:rect r="r" b="b" t="t" l="l"/>
              <a:pathLst>
                <a:path h="2339842" w="2079925">
                  <a:moveTo>
                    <a:pt x="0" y="0"/>
                  </a:moveTo>
                  <a:lnTo>
                    <a:pt x="2079925" y="0"/>
                  </a:lnTo>
                  <a:lnTo>
                    <a:pt x="2079925" y="2339842"/>
                  </a:lnTo>
                  <a:lnTo>
                    <a:pt x="0" y="2339842"/>
                  </a:lnTo>
                  <a:close/>
                </a:path>
              </a:pathLst>
            </a:custGeom>
            <a:blipFill>
              <a:blip r:embed="rId2"/>
              <a:stretch>
                <a:fillRect l="-32323" t="0" r="-59977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0" y="0"/>
            <a:ext cx="189775" cy="10287000"/>
            <a:chOff x="0" y="0"/>
            <a:chExt cx="49982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98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9982">
                  <a:moveTo>
                    <a:pt x="0" y="0"/>
                  </a:moveTo>
                  <a:lnTo>
                    <a:pt x="49982" y="0"/>
                  </a:lnTo>
                  <a:lnTo>
                    <a:pt x="4998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6F5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9982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666750"/>
            <a:ext cx="8324850" cy="6448425"/>
            <a:chOff x="0" y="0"/>
            <a:chExt cx="11099800" cy="85979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7062682"/>
              <a:ext cx="9182100" cy="15352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sz="2199" strike="noStrike" u="none">
                  <a:solidFill>
                    <a:srgbClr val="F6F5F2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Em 2 minutos, a IA lê a mancha e recomenda: efetivo a pé na Uruguaiana e a Comlurb na poda que cobre a iluminação.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4718050"/>
              <a:ext cx="9182100" cy="11882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 strike="noStrike" u="none">
                  <a:solidFill>
                    <a:srgbClr val="F6F5F2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EXEMPLO: PRESIDENTE VARGAS, EM TORNO DA URUGUAIANA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28575"/>
              <a:ext cx="11099800" cy="3078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  <a:spcBef>
                  <a:spcPct val="0"/>
                </a:spcBef>
              </a:pPr>
              <a:r>
                <a:rPr lang="en-US" sz="8000" strike="noStrike" u="none">
                  <a:solidFill>
                    <a:srgbClr val="F6F5F2"/>
                  </a:solidFill>
                  <a:latin typeface="Helios Extended"/>
                  <a:ea typeface="Helios Extended"/>
                  <a:cs typeface="Helios Extended"/>
                  <a:sym typeface="Helios Extended"/>
                </a:rPr>
                <a:t>Da mancha ao plano de ação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53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2172950" y="0"/>
            <a:ext cx="6115050" cy="10287000"/>
          </a:xfrm>
          <a:prstGeom prst="rect">
            <a:avLst/>
          </a:prstGeom>
          <a:solidFill>
            <a:srgbClr val="F6F5F2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9467850" y="666750"/>
            <a:ext cx="7958914" cy="8953500"/>
            <a:chOff x="0" y="0"/>
            <a:chExt cx="2079925" cy="23398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9925" cy="2339842"/>
            </a:xfrm>
            <a:custGeom>
              <a:avLst/>
              <a:gdLst/>
              <a:ahLst/>
              <a:cxnLst/>
              <a:rect r="r" b="b" t="t" l="l"/>
              <a:pathLst>
                <a:path h="2339842" w="2079925">
                  <a:moveTo>
                    <a:pt x="0" y="0"/>
                  </a:moveTo>
                  <a:lnTo>
                    <a:pt x="2079925" y="0"/>
                  </a:lnTo>
                  <a:lnTo>
                    <a:pt x="2079925" y="2339842"/>
                  </a:lnTo>
                  <a:lnTo>
                    <a:pt x="0" y="2339842"/>
                  </a:lnTo>
                  <a:close/>
                </a:path>
              </a:pathLst>
            </a:custGeom>
            <a:blipFill>
              <a:blip r:embed="rId2"/>
              <a:stretch>
                <a:fillRect l="-92301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0" y="0"/>
            <a:ext cx="189775" cy="10287000"/>
            <a:chOff x="0" y="0"/>
            <a:chExt cx="49982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98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9982">
                  <a:moveTo>
                    <a:pt x="0" y="0"/>
                  </a:moveTo>
                  <a:lnTo>
                    <a:pt x="49982" y="0"/>
                  </a:lnTo>
                  <a:lnTo>
                    <a:pt x="4998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6F5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9982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666750"/>
            <a:ext cx="8324850" cy="6448425"/>
            <a:chOff x="0" y="0"/>
            <a:chExt cx="11099800" cy="85979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7062682"/>
              <a:ext cx="9182100" cy="15352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sz="2199" strike="noStrike" u="none">
                  <a:solidFill>
                    <a:srgbClr val="F6F5F2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Em 2 minutos, a IA lê a mancha e recomenda: efetivo a pé na Uruguaiana e a Comlurb na poda que cobre a iluminação.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4718050"/>
              <a:ext cx="9182100" cy="11882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 strike="noStrike" u="none">
                  <a:solidFill>
                    <a:srgbClr val="F6F5F2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EXEMPLO: PRESIDENTE VARGAS, EM TORNO DA URUGUAIANA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28575"/>
              <a:ext cx="11099800" cy="3078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  <a:spcBef>
                  <a:spcPct val="0"/>
                </a:spcBef>
              </a:pPr>
              <a:r>
                <a:rPr lang="en-US" sz="8000" strike="noStrike" u="none">
                  <a:solidFill>
                    <a:srgbClr val="F6F5F2"/>
                  </a:solidFill>
                  <a:latin typeface="Helios Extended"/>
                  <a:ea typeface="Helios Extended"/>
                  <a:cs typeface="Helios Extended"/>
                  <a:sym typeface="Helios Extended"/>
                </a:rPr>
                <a:t>Da mancha ao plano de ação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7696835"/>
            <a:ext cx="6886575" cy="1438910"/>
            <a:chOff x="0" y="0"/>
            <a:chExt cx="9182100" cy="191854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951442"/>
              <a:ext cx="9182100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353533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A IA gera a mancha, o relatório e as recomendações, sempre citando a fonte.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57150"/>
              <a:ext cx="91821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353533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GERAÇÃO DE RELATÓRIOS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7696835"/>
            <a:ext cx="6886575" cy="1438910"/>
            <a:chOff x="0" y="0"/>
            <a:chExt cx="9182100" cy="1918547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951442"/>
              <a:ext cx="9182100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353533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Sem dado novo e sem hardware: a solução roda no dia seguinte à configuração.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57150"/>
              <a:ext cx="91821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353533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VELOCIDADE DE IMPLANTAÇÃO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4991100"/>
            <a:ext cx="6886575" cy="1438910"/>
            <a:chOff x="0" y="0"/>
            <a:chExt cx="9182100" cy="191854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951442"/>
              <a:ext cx="9182100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353533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Ingestão automática das 7 fontes (5 do CompStat mais 1746 e CCTV), com filtro por tempo.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57150"/>
              <a:ext cx="91821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353533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INGESTÃO AUTOMÁTICA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4991100"/>
            <a:ext cx="6886575" cy="1438910"/>
            <a:chOff x="0" y="0"/>
            <a:chExt cx="9182100" cy="1918547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951442"/>
              <a:ext cx="9182100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353533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Cruzamento geoespacial com dados de entrada controlados pelo gestor.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57150"/>
              <a:ext cx="91821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353533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CRUZAMENTO GEOESPACIAL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6750" y="695325"/>
            <a:ext cx="15516225" cy="2301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353533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Dados públicos entram. Decisão sai.</a:t>
            </a:r>
          </a:p>
        </p:txBody>
      </p:sp>
      <p:grpSp>
        <p:nvGrpSpPr>
          <p:cNvPr name="Group 15" id="15"/>
          <p:cNvGrpSpPr/>
          <p:nvPr/>
        </p:nvGrpSpPr>
        <p:grpSpPr>
          <a:xfrm rot="5400000">
            <a:off x="9066710" y="1027610"/>
            <a:ext cx="192681" cy="18326100"/>
            <a:chOff x="0" y="0"/>
            <a:chExt cx="50747" cy="482662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747" cy="4826627"/>
            </a:xfrm>
            <a:custGeom>
              <a:avLst/>
              <a:gdLst/>
              <a:ahLst/>
              <a:cxnLst/>
              <a:rect r="r" b="b" t="t" l="l"/>
              <a:pathLst>
                <a:path h="4826627" w="50747">
                  <a:moveTo>
                    <a:pt x="0" y="0"/>
                  </a:moveTo>
                  <a:lnTo>
                    <a:pt x="50747" y="0"/>
                  </a:lnTo>
                  <a:lnTo>
                    <a:pt x="50747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353533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50747" cy="4874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353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95325"/>
            <a:ext cx="11201400" cy="2301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F6F5F2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O analista volta a pensar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5143500"/>
            <a:ext cx="6886575" cy="1579323"/>
            <a:chOff x="0" y="0"/>
            <a:chExt cx="9182100" cy="2105764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157837"/>
              <a:ext cx="9182100" cy="9479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 strike="noStrike" u="none">
                  <a:solidFill>
                    <a:srgbClr val="F6F5F2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Com as 7 fontes integradas, o preparo cai de horas para minutos.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57150"/>
              <a:ext cx="91821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F6F5F2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FONTES CRUZADAS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296400" y="5143500"/>
            <a:ext cx="6886575" cy="1943606"/>
            <a:chOff x="0" y="0"/>
            <a:chExt cx="9182100" cy="259147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157837"/>
              <a:ext cx="9182100" cy="14336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 strike="noStrike" u="none">
                  <a:solidFill>
                    <a:srgbClr val="F6F5F2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A reunião continua semanal, mas a preparação para de roubar a semana e os desdobramentos ocorrem em tempo real.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57150"/>
              <a:ext cx="91821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F6F5F2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DECISÃO APRIMORADA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9068162" y="1029062"/>
            <a:ext cx="189775" cy="18326100"/>
            <a:chOff x="0" y="0"/>
            <a:chExt cx="49982" cy="482662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9982" cy="4826627"/>
            </a:xfrm>
            <a:custGeom>
              <a:avLst/>
              <a:gdLst/>
              <a:ahLst/>
              <a:cxnLst/>
              <a:rect r="r" b="b" t="t" l="l"/>
              <a:pathLst>
                <a:path h="4826627" w="49982">
                  <a:moveTo>
                    <a:pt x="0" y="0"/>
                  </a:moveTo>
                  <a:lnTo>
                    <a:pt x="49982" y="0"/>
                  </a:lnTo>
                  <a:lnTo>
                    <a:pt x="49982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F6F5F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9982" cy="4874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53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8966200"/>
            <a:chOff x="0" y="0"/>
            <a:chExt cx="1546294" cy="20132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6294" cy="2013248"/>
            </a:xfrm>
            <a:custGeom>
              <a:avLst/>
              <a:gdLst/>
              <a:ahLst/>
              <a:cxnLst/>
              <a:rect r="r" b="b" t="t" l="l"/>
              <a:pathLst>
                <a:path h="2013248" w="1546294">
                  <a:moveTo>
                    <a:pt x="0" y="0"/>
                  </a:moveTo>
                  <a:lnTo>
                    <a:pt x="1546294" y="0"/>
                  </a:lnTo>
                  <a:lnTo>
                    <a:pt x="1546294" y="2013248"/>
                  </a:lnTo>
                  <a:lnTo>
                    <a:pt x="0" y="2013248"/>
                  </a:lnTo>
                  <a:close/>
                </a:path>
              </a:pathLst>
            </a:custGeom>
            <a:blipFill>
              <a:blip r:embed="rId2"/>
              <a:stretch>
                <a:fillRect l="-41159" t="0" r="6275" b="5962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734675" y="666750"/>
            <a:ext cx="6886575" cy="8966200"/>
            <a:chOff x="0" y="0"/>
            <a:chExt cx="1813748" cy="23614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13748" cy="2361468"/>
            </a:xfrm>
            <a:custGeom>
              <a:avLst/>
              <a:gdLst/>
              <a:ahLst/>
              <a:cxnLst/>
              <a:rect r="r" b="b" t="t" l="l"/>
              <a:pathLst>
                <a:path h="2361468" w="1813748">
                  <a:moveTo>
                    <a:pt x="0" y="0"/>
                  </a:moveTo>
                  <a:lnTo>
                    <a:pt x="1813748" y="0"/>
                  </a:lnTo>
                  <a:lnTo>
                    <a:pt x="1813748" y="2361468"/>
                  </a:lnTo>
                  <a:lnTo>
                    <a:pt x="0" y="2361468"/>
                  </a:lnTo>
                  <a:close/>
                </a:path>
              </a:pathLst>
            </a:custGeom>
            <a:solidFill>
              <a:srgbClr val="F6F5F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813748" cy="2409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66750" y="771525"/>
            <a:ext cx="8946860" cy="3150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b="true" sz="8000" strike="noStrike" u="none">
                <a:solidFill>
                  <a:srgbClr val="F6F5F2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O Rio já tem os dados. Falta </a:t>
            </a:r>
            <a:r>
              <a:rPr lang="en-US" b="true" sz="8000" strike="noStrike" u="sng">
                <a:solidFill>
                  <a:srgbClr val="FFBD59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acelerar</a:t>
            </a:r>
            <a:r>
              <a:rPr lang="en-US" b="true" sz="8000" strike="noStrike" u="none">
                <a:solidFill>
                  <a:srgbClr val="F6F5F2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66750" y="5143500"/>
            <a:ext cx="5448300" cy="4399451"/>
            <a:chOff x="0" y="0"/>
            <a:chExt cx="7264400" cy="5865935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3018986"/>
              <a:ext cx="7264400" cy="462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F6F5F2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https://compstat.vercel.app/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321968"/>
              <a:ext cx="72644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F6F5F2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WEBSITE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639868"/>
              <a:ext cx="7264400" cy="462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6F5F2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+55 21 99756-6769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57150"/>
              <a:ext cx="72644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F6F5F2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TELEFONE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5403719"/>
              <a:ext cx="7264400" cy="462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F6F5F2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leandromaveiro@hotmail.com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4706701"/>
              <a:ext cx="726440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F6F5F2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EMAIL</a:t>
              </a:r>
            </a:p>
          </p:txBody>
        </p:sp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393292" y="2365180"/>
            <a:ext cx="5569339" cy="55693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CoPatrulha</dc:description>
  <dc:identifier>DAHKmEcbXms</dc:identifier>
  <dcterms:modified xsi:type="dcterms:W3CDTF">2011-08-01T06:04:30Z</dcterms:modified>
  <cp:revision>1</cp:revision>
  <dc:title>Presentation - CoPatrulha</dc:title>
</cp:coreProperties>
</file>